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notesMasterIdLst>
    <p:notesMasterId r:id="rId18"/>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68" r:id="rId14"/>
    <p:sldId id="269" r:id="rId15"/>
    <p:sldId id="270"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79" autoAdjust="0"/>
  </p:normalViewPr>
  <p:slideViewPr>
    <p:cSldViewPr snapToGrid="0" snapToObjects="1">
      <p:cViewPr varScale="1">
        <p:scale>
          <a:sx n="62" d="100"/>
          <a:sy n="62" d="100"/>
        </p:scale>
        <p:origin x="1608"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321C9-B5F9-451F-89B9-A1C6FF79AB78}" type="datetimeFigureOut">
              <a:rPr lang="en-IN" smtClean="0"/>
              <a:t>09-11-2025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AAD457-F60F-4D8B-9F36-E923C2F216F5}" type="slidenum">
              <a:rPr lang="en-IN" smtClean="0"/>
              <a:t>‹#›</a:t>
            </a:fld>
            <a:endParaRPr lang="en-IN"/>
          </a:p>
        </p:txBody>
      </p:sp>
    </p:spTree>
    <p:extLst>
      <p:ext uri="{BB962C8B-B14F-4D97-AF65-F5344CB8AC3E}">
        <p14:creationId xmlns:p14="http://schemas.microsoft.com/office/powerpoint/2010/main" val="3393545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823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836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3499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6809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9858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2810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4893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6139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9101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3539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729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11/9/2025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3071217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9B9510-A882-BABC-A523-C46EB1FF00CA}"/>
              </a:ext>
            </a:extLst>
          </p:cNvPr>
          <p:cNvSpPr txBox="1"/>
          <p:nvPr/>
        </p:nvSpPr>
        <p:spPr>
          <a:xfrm>
            <a:off x="1030515" y="246743"/>
            <a:ext cx="7082972" cy="584775"/>
          </a:xfrm>
          <a:prstGeom prst="rect">
            <a:avLst/>
          </a:prstGeom>
          <a:noFill/>
        </p:spPr>
        <p:txBody>
          <a:bodyPr wrap="square" rtlCol="0">
            <a:spAutoFit/>
          </a:bodyPr>
          <a:lstStyle/>
          <a:p>
            <a:r>
              <a:rPr lang="en-US" sz="3200" b="1" dirty="0">
                <a:solidFill>
                  <a:srgbClr val="C00000"/>
                </a:solidFill>
              </a:rPr>
              <a:t>Shri Ramswroop Memorial University</a:t>
            </a:r>
            <a:endParaRPr lang="en-IN" sz="3200" b="1" dirty="0">
              <a:solidFill>
                <a:srgbClr val="C00000"/>
              </a:solidFill>
            </a:endParaRPr>
          </a:p>
        </p:txBody>
      </p:sp>
      <p:sp>
        <p:nvSpPr>
          <p:cNvPr id="4" name="TextBox 3">
            <a:extLst>
              <a:ext uri="{FF2B5EF4-FFF2-40B4-BE49-F238E27FC236}">
                <a16:creationId xmlns:a16="http://schemas.microsoft.com/office/drawing/2014/main" id="{22C05F3E-BDEF-BB8D-A648-8FA5E76ADD3C}"/>
              </a:ext>
            </a:extLst>
          </p:cNvPr>
          <p:cNvSpPr txBox="1"/>
          <p:nvPr/>
        </p:nvSpPr>
        <p:spPr>
          <a:xfrm>
            <a:off x="2402114" y="1299029"/>
            <a:ext cx="184731" cy="369332"/>
          </a:xfrm>
          <a:prstGeom prst="rect">
            <a:avLst/>
          </a:prstGeom>
          <a:noFill/>
        </p:spPr>
        <p:txBody>
          <a:bodyPr wrap="none" rtlCol="0">
            <a:spAutoFit/>
          </a:bodyPr>
          <a:lstStyle/>
          <a:p>
            <a:endParaRPr lang="en-IN" dirty="0"/>
          </a:p>
        </p:txBody>
      </p:sp>
      <p:sp>
        <p:nvSpPr>
          <p:cNvPr id="5" name="TextBox 4">
            <a:extLst>
              <a:ext uri="{FF2B5EF4-FFF2-40B4-BE49-F238E27FC236}">
                <a16:creationId xmlns:a16="http://schemas.microsoft.com/office/drawing/2014/main" id="{23AE86A6-5CB5-1A9D-DF13-CA4EE4C5D269}"/>
              </a:ext>
            </a:extLst>
          </p:cNvPr>
          <p:cNvSpPr txBox="1"/>
          <p:nvPr/>
        </p:nvSpPr>
        <p:spPr>
          <a:xfrm>
            <a:off x="2249714" y="1146629"/>
            <a:ext cx="184731" cy="369332"/>
          </a:xfrm>
          <a:prstGeom prst="rect">
            <a:avLst/>
          </a:prstGeom>
          <a:noFill/>
        </p:spPr>
        <p:txBody>
          <a:bodyPr wrap="none" rtlCol="0">
            <a:spAutoFit/>
          </a:bodyPr>
          <a:lstStyle/>
          <a:p>
            <a:endParaRPr lang="en-IN" dirty="0"/>
          </a:p>
        </p:txBody>
      </p:sp>
      <p:pic>
        <p:nvPicPr>
          <p:cNvPr id="6" name="Picture 5">
            <a:extLst>
              <a:ext uri="{FF2B5EF4-FFF2-40B4-BE49-F238E27FC236}">
                <a16:creationId xmlns:a16="http://schemas.microsoft.com/office/drawing/2014/main" id="{795309B0-0C4F-774C-5CAB-E1FC8C767C20}"/>
              </a:ext>
            </a:extLst>
          </p:cNvPr>
          <p:cNvPicPr>
            <a:picLocks noChangeAspect="1"/>
          </p:cNvPicPr>
          <p:nvPr/>
        </p:nvPicPr>
        <p:blipFill>
          <a:blip r:embed="rId2"/>
          <a:stretch>
            <a:fillRect/>
          </a:stretch>
        </p:blipFill>
        <p:spPr>
          <a:xfrm>
            <a:off x="4480552" y="3243056"/>
            <a:ext cx="182896" cy="371888"/>
          </a:xfrm>
          <a:prstGeom prst="rect">
            <a:avLst/>
          </a:prstGeom>
        </p:spPr>
      </p:pic>
      <p:sp>
        <p:nvSpPr>
          <p:cNvPr id="10" name="TextBox 9">
            <a:extLst>
              <a:ext uri="{FF2B5EF4-FFF2-40B4-BE49-F238E27FC236}">
                <a16:creationId xmlns:a16="http://schemas.microsoft.com/office/drawing/2014/main" id="{BF4AC490-92C5-8380-2957-E8F518EFD859}"/>
              </a:ext>
            </a:extLst>
          </p:cNvPr>
          <p:cNvSpPr txBox="1"/>
          <p:nvPr/>
        </p:nvSpPr>
        <p:spPr>
          <a:xfrm>
            <a:off x="2402114" y="1299029"/>
            <a:ext cx="184731" cy="369332"/>
          </a:xfrm>
          <a:prstGeom prst="rect">
            <a:avLst/>
          </a:prstGeom>
          <a:noFill/>
        </p:spPr>
        <p:txBody>
          <a:bodyPr wrap="none" rtlCol="0">
            <a:spAutoFit/>
          </a:bodyPr>
          <a:lstStyle/>
          <a:p>
            <a:endParaRPr lang="en-IN" dirty="0"/>
          </a:p>
        </p:txBody>
      </p:sp>
      <p:pic>
        <p:nvPicPr>
          <p:cNvPr id="12" name="Picture 11">
            <a:extLst>
              <a:ext uri="{FF2B5EF4-FFF2-40B4-BE49-F238E27FC236}">
                <a16:creationId xmlns:a16="http://schemas.microsoft.com/office/drawing/2014/main" id="{46B42F0A-E0C7-914F-9371-93491F170E1F}"/>
              </a:ext>
            </a:extLst>
          </p:cNvPr>
          <p:cNvPicPr>
            <a:picLocks noChangeAspect="1"/>
          </p:cNvPicPr>
          <p:nvPr/>
        </p:nvPicPr>
        <p:blipFill>
          <a:blip r:embed="rId3"/>
          <a:stretch>
            <a:fillRect/>
          </a:stretch>
        </p:blipFill>
        <p:spPr>
          <a:xfrm>
            <a:off x="2342080" y="413658"/>
            <a:ext cx="3303978" cy="3303978"/>
          </a:xfrm>
          <a:prstGeom prst="rect">
            <a:avLst/>
          </a:prstGeom>
        </p:spPr>
      </p:pic>
      <p:sp>
        <p:nvSpPr>
          <p:cNvPr id="17" name="TextBox 16">
            <a:extLst>
              <a:ext uri="{FF2B5EF4-FFF2-40B4-BE49-F238E27FC236}">
                <a16:creationId xmlns:a16="http://schemas.microsoft.com/office/drawing/2014/main" id="{F9F762A9-9A41-363C-31E2-9335D9C13C2B}"/>
              </a:ext>
            </a:extLst>
          </p:cNvPr>
          <p:cNvSpPr txBox="1"/>
          <p:nvPr/>
        </p:nvSpPr>
        <p:spPr>
          <a:xfrm>
            <a:off x="1741714" y="3247962"/>
            <a:ext cx="5116286" cy="1077218"/>
          </a:xfrm>
          <a:prstGeom prst="rect">
            <a:avLst/>
          </a:prstGeom>
          <a:noFill/>
        </p:spPr>
        <p:txBody>
          <a:bodyPr wrap="square">
            <a:spAutoFit/>
          </a:bodyPr>
          <a:lstStyle/>
          <a:p>
            <a:r>
              <a:rPr lang="en-US" sz="3200" b="1" dirty="0">
                <a:solidFill>
                  <a:schemeClr val="accent1">
                    <a:lumMod val="50000"/>
                  </a:schemeClr>
                </a:solidFill>
              </a:rPr>
              <a:t>Data Analytics and reporting</a:t>
            </a:r>
          </a:p>
          <a:p>
            <a:r>
              <a:rPr lang="en-US" sz="3200" b="1" dirty="0">
                <a:solidFill>
                  <a:schemeClr val="accent1">
                    <a:lumMod val="50000"/>
                  </a:schemeClr>
                </a:solidFill>
              </a:rPr>
              <a:t>               (UCS3804)</a:t>
            </a:r>
            <a:endParaRPr lang="en-IN" sz="3200" b="1" dirty="0">
              <a:solidFill>
                <a:schemeClr val="accent1">
                  <a:lumMod val="50000"/>
                </a:schemeClr>
              </a:solidFill>
            </a:endParaRPr>
          </a:p>
        </p:txBody>
      </p:sp>
      <p:sp>
        <p:nvSpPr>
          <p:cNvPr id="18" name="TextBox 17">
            <a:extLst>
              <a:ext uri="{FF2B5EF4-FFF2-40B4-BE49-F238E27FC236}">
                <a16:creationId xmlns:a16="http://schemas.microsoft.com/office/drawing/2014/main" id="{5F6052C2-EAC4-3629-F102-F30191721487}"/>
              </a:ext>
            </a:extLst>
          </p:cNvPr>
          <p:cNvSpPr txBox="1"/>
          <p:nvPr/>
        </p:nvSpPr>
        <p:spPr>
          <a:xfrm>
            <a:off x="6096000" y="4615543"/>
            <a:ext cx="2900922" cy="1477328"/>
          </a:xfrm>
          <a:prstGeom prst="rect">
            <a:avLst/>
          </a:prstGeom>
          <a:noFill/>
        </p:spPr>
        <p:txBody>
          <a:bodyPr wrap="none" rtlCol="0">
            <a:spAutoFit/>
          </a:bodyPr>
          <a:lstStyle/>
          <a:p>
            <a:r>
              <a:rPr lang="en-US" b="1" dirty="0"/>
              <a:t>SUBMITTED BY:</a:t>
            </a:r>
          </a:p>
          <a:p>
            <a:r>
              <a:rPr lang="en-US" b="1" dirty="0"/>
              <a:t>NAME:ANANYA SINHA</a:t>
            </a:r>
          </a:p>
          <a:p>
            <a:r>
              <a:rPr lang="en-US" b="1" dirty="0"/>
              <a:t>ROLL NO.:202410101150240</a:t>
            </a:r>
          </a:p>
          <a:p>
            <a:r>
              <a:rPr lang="en-US" b="1" dirty="0"/>
              <a:t>GROUP:38</a:t>
            </a:r>
          </a:p>
          <a:p>
            <a:r>
              <a:rPr lang="en-US" b="1" dirty="0"/>
              <a:t>COURSE:BTECHCS(DS+AI)</a:t>
            </a:r>
            <a:endParaRPr lang="en-IN" b="1" dirty="0"/>
          </a:p>
        </p:txBody>
      </p:sp>
      <p:sp>
        <p:nvSpPr>
          <p:cNvPr id="19" name="TextBox 18">
            <a:extLst>
              <a:ext uri="{FF2B5EF4-FFF2-40B4-BE49-F238E27FC236}">
                <a16:creationId xmlns:a16="http://schemas.microsoft.com/office/drawing/2014/main" id="{B6CA7DBE-9296-D1C1-964D-59E8A097B1A6}"/>
              </a:ext>
            </a:extLst>
          </p:cNvPr>
          <p:cNvSpPr txBox="1"/>
          <p:nvPr/>
        </p:nvSpPr>
        <p:spPr>
          <a:xfrm>
            <a:off x="580572" y="4804229"/>
            <a:ext cx="2131096" cy="646331"/>
          </a:xfrm>
          <a:prstGeom prst="rect">
            <a:avLst/>
          </a:prstGeom>
          <a:noFill/>
        </p:spPr>
        <p:txBody>
          <a:bodyPr wrap="none" rtlCol="0">
            <a:spAutoFit/>
          </a:bodyPr>
          <a:lstStyle/>
          <a:p>
            <a:r>
              <a:rPr lang="en-US" b="1" dirty="0"/>
              <a:t>SUBMITTED TO:</a:t>
            </a:r>
          </a:p>
          <a:p>
            <a:r>
              <a:rPr lang="en-US" b="1" dirty="0"/>
              <a:t>MS.DEEPIKA TIWAR</a:t>
            </a:r>
            <a:r>
              <a:rPr lang="en-US" dirty="0"/>
              <a:t>I</a:t>
            </a:r>
            <a:endParaRPr lang="en-IN" dirty="0"/>
          </a:p>
        </p:txBody>
      </p:sp>
    </p:spTree>
    <p:extLst>
      <p:ext uri="{BB962C8B-B14F-4D97-AF65-F5344CB8AC3E}">
        <p14:creationId xmlns:p14="http://schemas.microsoft.com/office/powerpoint/2010/main" val="4165419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B76EC7-A54A-B5B6-A987-1B7D9DA0AC58}"/>
              </a:ext>
            </a:extLst>
          </p:cNvPr>
          <p:cNvSpPr txBox="1"/>
          <p:nvPr/>
        </p:nvSpPr>
        <p:spPr>
          <a:xfrm>
            <a:off x="1285876" y="109924"/>
            <a:ext cx="6966264" cy="646331"/>
          </a:xfrm>
          <a:prstGeom prst="rect">
            <a:avLst/>
          </a:prstGeom>
          <a:noFill/>
        </p:spPr>
        <p:txBody>
          <a:bodyPr wrap="square" rtlCol="0">
            <a:spAutoFit/>
          </a:bodyPr>
          <a:lstStyle/>
          <a:p>
            <a:r>
              <a:rPr lang="en-US" sz="3600" b="1" u="sng" dirty="0">
                <a:solidFill>
                  <a:schemeClr val="accent1">
                    <a:lumMod val="75000"/>
                  </a:schemeClr>
                </a:solidFill>
              </a:rPr>
              <a:t>EMPLOYEE DATA (Data Analytics)</a:t>
            </a:r>
            <a:endParaRPr lang="en-IN" sz="3600" b="1" u="sng" dirty="0">
              <a:solidFill>
                <a:schemeClr val="accent1">
                  <a:lumMod val="75000"/>
                </a:schemeClr>
              </a:solidFill>
            </a:endParaRPr>
          </a:p>
        </p:txBody>
      </p:sp>
      <p:sp>
        <p:nvSpPr>
          <p:cNvPr id="6" name="TextBox 5">
            <a:extLst>
              <a:ext uri="{FF2B5EF4-FFF2-40B4-BE49-F238E27FC236}">
                <a16:creationId xmlns:a16="http://schemas.microsoft.com/office/drawing/2014/main" id="{28299261-513F-AF09-5611-20ECDF2CB991}"/>
              </a:ext>
            </a:extLst>
          </p:cNvPr>
          <p:cNvSpPr txBox="1"/>
          <p:nvPr/>
        </p:nvSpPr>
        <p:spPr>
          <a:xfrm>
            <a:off x="819151" y="942975"/>
            <a:ext cx="7648574" cy="3046988"/>
          </a:xfrm>
          <a:prstGeom prst="rect">
            <a:avLst/>
          </a:prstGeom>
          <a:noFill/>
        </p:spPr>
        <p:txBody>
          <a:bodyPr wrap="square" rtlCol="0">
            <a:spAutoFit/>
          </a:bodyPr>
          <a:lstStyle/>
          <a:p>
            <a:r>
              <a:rPr lang="en-US" sz="2400" dirty="0">
                <a:solidFill>
                  <a:schemeClr val="tx2"/>
                </a:solidFill>
              </a:rPr>
              <a:t>A CSV (Comma-Separated Values) file is a plain text file that stores tabular data, such as a spreadsheet or database table. In a CSV file, each line is a new row, and the values within that row are separated by commas. Because it is a simple, plain text format, CSV is one of the most widely used formats for exchanging data between different applications</a:t>
            </a:r>
            <a:r>
              <a:rPr lang="en-US" sz="2400" b="1" dirty="0">
                <a:solidFill>
                  <a:schemeClr val="accent1">
                    <a:lumMod val="75000"/>
                  </a:schemeClr>
                </a:solidFill>
              </a:rPr>
              <a:t>.For example</a:t>
            </a:r>
            <a:r>
              <a:rPr lang="en-US" sz="2400" dirty="0">
                <a:solidFill>
                  <a:schemeClr val="tx2"/>
                </a:solidFill>
              </a:rPr>
              <a:t>:</a:t>
            </a:r>
          </a:p>
          <a:p>
            <a:endParaRPr lang="en-IN" sz="2400" dirty="0">
              <a:solidFill>
                <a:schemeClr val="tx2"/>
              </a:solidFill>
            </a:endParaRPr>
          </a:p>
        </p:txBody>
      </p:sp>
      <p:pic>
        <p:nvPicPr>
          <p:cNvPr id="7" name="Picture 6">
            <a:extLst>
              <a:ext uri="{FF2B5EF4-FFF2-40B4-BE49-F238E27FC236}">
                <a16:creationId xmlns:a16="http://schemas.microsoft.com/office/drawing/2014/main" id="{D4303048-1136-98E1-5E76-1B63D3788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700" y="3709450"/>
            <a:ext cx="8485080" cy="3038625"/>
          </a:xfrm>
          <a:prstGeom prst="rect">
            <a:avLst/>
          </a:prstGeom>
        </p:spPr>
      </p:pic>
    </p:spTree>
    <p:extLst>
      <p:ext uri="{BB962C8B-B14F-4D97-AF65-F5344CB8AC3E}">
        <p14:creationId xmlns:p14="http://schemas.microsoft.com/office/powerpoint/2010/main" val="383091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4E5BD8C-E3E2-7BDF-76E3-6E086BA83C7C}"/>
              </a:ext>
            </a:extLst>
          </p:cNvPr>
          <p:cNvSpPr>
            <a:spLocks noChangeArrowheads="1"/>
          </p:cNvSpPr>
          <p:nvPr/>
        </p:nvSpPr>
        <p:spPr bwMode="auto">
          <a:xfrm>
            <a:off x="0" y="-421223"/>
            <a:ext cx="65" cy="84244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C216C6E-FA78-513A-21C1-F916386C7F15}"/>
              </a:ext>
            </a:extLst>
          </p:cNvPr>
          <p:cNvSpPr txBox="1"/>
          <p:nvPr/>
        </p:nvSpPr>
        <p:spPr>
          <a:xfrm>
            <a:off x="494779" y="1540701"/>
            <a:ext cx="8154444" cy="4247317"/>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800" dirty="0">
                <a:solidFill>
                  <a:schemeClr val="accent1">
                    <a:lumMod val="75000"/>
                  </a:schemeClr>
                </a:solidFill>
                <a:latin typeface="Google Sans"/>
              </a:rPr>
              <a:t>Pandas is a popular, open-source Python library used for data manipulation and analysis. It provides data structures and a range of functions that make it easy to clean, process, and analyze structured data like spreadsheets or database tables. </a:t>
            </a:r>
          </a:p>
          <a:p>
            <a:pPr lvl="0" defTabSz="914400" eaLnBrk="0" fontAlgn="base" hangingPunct="0">
              <a:spcBef>
                <a:spcPct val="0"/>
              </a:spcBef>
              <a:spcAft>
                <a:spcPct val="0"/>
              </a:spcAft>
            </a:pPr>
            <a:r>
              <a:rPr lang="en-US" altLang="en-US" sz="2800" b="1" dirty="0">
                <a:solidFill>
                  <a:srgbClr val="FF0000"/>
                </a:solidFill>
                <a:latin typeface="Google Sans"/>
              </a:rPr>
              <a:t>For example:</a:t>
            </a:r>
            <a:endParaRPr lang="en-US" altLang="en-US" sz="2800" b="1" dirty="0">
              <a:solidFill>
                <a:srgbClr val="FF0000"/>
              </a:solidFill>
            </a:endParaRPr>
          </a:p>
          <a:p>
            <a:pPr lvl="0" defTabSz="914400" eaLnBrk="0" fontAlgn="base" hangingPunct="0">
              <a:spcBef>
                <a:spcPct val="0"/>
              </a:spcBef>
              <a:spcAft>
                <a:spcPct val="0"/>
              </a:spcAft>
            </a:pPr>
            <a:r>
              <a:rPr lang="en-US" altLang="en-US" sz="2800" b="1" dirty="0">
                <a:solidFill>
                  <a:srgbClr val="FFC000"/>
                </a:solidFill>
              </a:rPr>
              <a:t># Read a CSV file into a DataFrame</a:t>
            </a:r>
          </a:p>
          <a:p>
            <a:pPr lvl="0" defTabSz="914400" eaLnBrk="0" fontAlgn="base" hangingPunct="0">
              <a:spcBef>
                <a:spcPct val="0"/>
              </a:spcBef>
              <a:spcAft>
                <a:spcPct val="0"/>
              </a:spcAft>
            </a:pPr>
            <a:r>
              <a:rPr lang="en-US" altLang="en-US" sz="2800" b="1" dirty="0">
                <a:solidFill>
                  <a:srgbClr val="FFC000"/>
                </a:solidFill>
              </a:rPr>
              <a:t># df = pd.read_csv('your_file.csv’)</a:t>
            </a:r>
          </a:p>
          <a:p>
            <a:pPr lvl="0" defTabSz="914400" eaLnBrk="0" fontAlgn="base" hangingPunct="0">
              <a:spcBef>
                <a:spcPct val="0"/>
              </a:spcBef>
              <a:spcAft>
                <a:spcPct val="0"/>
              </a:spcAft>
            </a:pPr>
            <a:r>
              <a:rPr lang="en-US" altLang="en-US" sz="2800" b="1" dirty="0">
                <a:solidFill>
                  <a:srgbClr val="FFC000"/>
                </a:solidFill>
              </a:rPr>
              <a:t># print(df)</a:t>
            </a:r>
          </a:p>
          <a:p>
            <a:endParaRPr lang="en-IN" dirty="0"/>
          </a:p>
        </p:txBody>
      </p:sp>
      <p:sp>
        <p:nvSpPr>
          <p:cNvPr id="6" name="TextBox 5">
            <a:extLst>
              <a:ext uri="{FF2B5EF4-FFF2-40B4-BE49-F238E27FC236}">
                <a16:creationId xmlns:a16="http://schemas.microsoft.com/office/drawing/2014/main" id="{7E75A087-C84D-1F28-660A-52D1C9AE1063}"/>
              </a:ext>
            </a:extLst>
          </p:cNvPr>
          <p:cNvSpPr txBox="1"/>
          <p:nvPr/>
        </p:nvSpPr>
        <p:spPr>
          <a:xfrm>
            <a:off x="494779" y="681675"/>
            <a:ext cx="5177601" cy="584775"/>
          </a:xfrm>
          <a:prstGeom prst="rect">
            <a:avLst/>
          </a:prstGeom>
          <a:noFill/>
        </p:spPr>
        <p:txBody>
          <a:bodyPr wrap="square" rtlCol="0">
            <a:spAutoFit/>
          </a:bodyPr>
          <a:lstStyle/>
          <a:p>
            <a:r>
              <a:rPr lang="en-IN" sz="3200" b="1" u="sng" dirty="0">
                <a:solidFill>
                  <a:srgbClr val="FF0000"/>
                </a:solidFill>
              </a:rPr>
              <a:t>What is pandas in python?</a:t>
            </a:r>
          </a:p>
        </p:txBody>
      </p:sp>
    </p:spTree>
    <p:extLst>
      <p:ext uri="{BB962C8B-B14F-4D97-AF65-F5344CB8AC3E}">
        <p14:creationId xmlns:p14="http://schemas.microsoft.com/office/powerpoint/2010/main" val="3818550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2D7AB4-328B-B8B7-C8FD-30296DBEA8F0}"/>
              </a:ext>
            </a:extLst>
          </p:cNvPr>
          <p:cNvSpPr txBox="1"/>
          <p:nvPr/>
        </p:nvSpPr>
        <p:spPr>
          <a:xfrm>
            <a:off x="282300" y="777081"/>
            <a:ext cx="8641080" cy="4062651"/>
          </a:xfrm>
          <a:prstGeom prst="rect">
            <a:avLst/>
          </a:prstGeom>
          <a:noFill/>
        </p:spPr>
        <p:txBody>
          <a:bodyPr wrap="square" rtlCol="0">
            <a:spAutoFit/>
          </a:bodyPr>
          <a:lstStyle/>
          <a:p>
            <a:r>
              <a:rPr lang="en-US" sz="2400" dirty="0">
                <a:solidFill>
                  <a:srgbClr val="FF33CC"/>
                </a:solidFill>
              </a:rPr>
              <a:t>In Python's Pandas library, mean() and mode() are functions used to calculate measures of central tendency for data in Series or Data Frames.</a:t>
            </a:r>
          </a:p>
          <a:p>
            <a:r>
              <a:rPr lang="en-US" sz="2400" dirty="0">
                <a:solidFill>
                  <a:srgbClr val="FF33CC"/>
                </a:solidFill>
              </a:rPr>
              <a:t>The mean, or arithmetic mean, represents the average value of a dataset. It is calculated by summing all the values in a dataset and then dividing by the number of values.</a:t>
            </a:r>
          </a:p>
          <a:p>
            <a:r>
              <a:rPr lang="en-US" sz="2400" dirty="0">
                <a:solidFill>
                  <a:srgbClr val="FF33CC"/>
                </a:solidFill>
              </a:rPr>
              <a:t>In Pandas: You can calculate the mean of a Series or Data Frame column using the .mean() method.</a:t>
            </a:r>
          </a:p>
          <a:p>
            <a:br>
              <a:rPr lang="en-US" dirty="0"/>
            </a:br>
            <a:br>
              <a:rPr lang="en-US" sz="2400" dirty="0"/>
            </a:br>
            <a:endParaRPr lang="en-IN" sz="2400" dirty="0"/>
          </a:p>
        </p:txBody>
      </p:sp>
      <p:sp>
        <p:nvSpPr>
          <p:cNvPr id="4" name="TextBox 3">
            <a:extLst>
              <a:ext uri="{FF2B5EF4-FFF2-40B4-BE49-F238E27FC236}">
                <a16:creationId xmlns:a16="http://schemas.microsoft.com/office/drawing/2014/main" id="{B9EDE6DF-480B-221B-FC8D-F809D0069DB6}"/>
              </a:ext>
            </a:extLst>
          </p:cNvPr>
          <p:cNvSpPr txBox="1"/>
          <p:nvPr/>
        </p:nvSpPr>
        <p:spPr>
          <a:xfrm rot="10800000" flipV="1">
            <a:off x="551543" y="135535"/>
            <a:ext cx="7891415" cy="523220"/>
          </a:xfrm>
          <a:prstGeom prst="rect">
            <a:avLst/>
          </a:prstGeom>
          <a:noFill/>
        </p:spPr>
        <p:txBody>
          <a:bodyPr wrap="square" rtlCol="0">
            <a:spAutoFit/>
          </a:bodyPr>
          <a:lstStyle/>
          <a:p>
            <a:r>
              <a:rPr lang="en-US" sz="2800" b="1" u="sng" dirty="0">
                <a:solidFill>
                  <a:srgbClr val="FFC000"/>
                </a:solidFill>
              </a:rPr>
              <a:t>What is mean and mode in python pandas  library</a:t>
            </a:r>
            <a:r>
              <a:rPr lang="en-US" sz="2800" b="1" dirty="0">
                <a:solidFill>
                  <a:srgbClr val="FFC000"/>
                </a:solidFill>
              </a:rPr>
              <a:t>?</a:t>
            </a:r>
            <a:endParaRPr lang="en-IN" sz="2800" b="1" dirty="0">
              <a:solidFill>
                <a:srgbClr val="FFC000"/>
              </a:solidFill>
            </a:endParaRPr>
          </a:p>
        </p:txBody>
      </p:sp>
      <p:pic>
        <p:nvPicPr>
          <p:cNvPr id="7" name="Picture 6">
            <a:extLst>
              <a:ext uri="{FF2B5EF4-FFF2-40B4-BE49-F238E27FC236}">
                <a16:creationId xmlns:a16="http://schemas.microsoft.com/office/drawing/2014/main" id="{5D09F8DB-B96C-A1EE-0419-126478D39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2" y="3929663"/>
            <a:ext cx="3996981" cy="2347531"/>
          </a:xfrm>
          <a:prstGeom prst="rect">
            <a:avLst/>
          </a:prstGeom>
        </p:spPr>
      </p:pic>
      <p:pic>
        <p:nvPicPr>
          <p:cNvPr id="9" name="Picture 8">
            <a:extLst>
              <a:ext uri="{FF2B5EF4-FFF2-40B4-BE49-F238E27FC236}">
                <a16:creationId xmlns:a16="http://schemas.microsoft.com/office/drawing/2014/main" id="{899F5445-BF89-4D65-11AF-250E17DC3F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1" y="3978120"/>
            <a:ext cx="3661592" cy="1930311"/>
          </a:xfrm>
          <a:prstGeom prst="rect">
            <a:avLst/>
          </a:prstGeom>
        </p:spPr>
      </p:pic>
    </p:spTree>
    <p:extLst>
      <p:ext uri="{BB962C8B-B14F-4D97-AF65-F5344CB8AC3E}">
        <p14:creationId xmlns:p14="http://schemas.microsoft.com/office/powerpoint/2010/main" val="2399891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2907E0-0AAA-22DE-B37C-CF07F19DC8DF}"/>
              </a:ext>
            </a:extLst>
          </p:cNvPr>
          <p:cNvSpPr txBox="1"/>
          <p:nvPr/>
        </p:nvSpPr>
        <p:spPr>
          <a:xfrm>
            <a:off x="0" y="1364004"/>
            <a:ext cx="8897257" cy="954107"/>
          </a:xfrm>
          <a:prstGeom prst="rect">
            <a:avLst/>
          </a:prstGeom>
          <a:noFill/>
        </p:spPr>
        <p:txBody>
          <a:bodyPr wrap="square" rtlCol="0">
            <a:spAutoFit/>
          </a:bodyPr>
          <a:lstStyle/>
          <a:p>
            <a:r>
              <a:rPr lang="en-US" sz="2800" dirty="0"/>
              <a:t>Filtering data in Pandas Data Frames involves selecting rows or columns based on specific conditions or labels.</a:t>
            </a:r>
            <a:endParaRPr lang="en-IN" sz="2800" dirty="0"/>
          </a:p>
        </p:txBody>
      </p:sp>
      <p:sp>
        <p:nvSpPr>
          <p:cNvPr id="4" name="TextBox 3">
            <a:extLst>
              <a:ext uri="{FF2B5EF4-FFF2-40B4-BE49-F238E27FC236}">
                <a16:creationId xmlns:a16="http://schemas.microsoft.com/office/drawing/2014/main" id="{5F791BA6-A903-5F80-774F-86091527CFBE}"/>
              </a:ext>
            </a:extLst>
          </p:cNvPr>
          <p:cNvSpPr txBox="1"/>
          <p:nvPr/>
        </p:nvSpPr>
        <p:spPr>
          <a:xfrm>
            <a:off x="159657" y="362856"/>
            <a:ext cx="8737600" cy="707886"/>
          </a:xfrm>
          <a:prstGeom prst="rect">
            <a:avLst/>
          </a:prstGeom>
          <a:noFill/>
        </p:spPr>
        <p:txBody>
          <a:bodyPr wrap="square" rtlCol="0">
            <a:spAutoFit/>
          </a:bodyPr>
          <a:lstStyle/>
          <a:p>
            <a:r>
              <a:rPr lang="en-IN" sz="4000" dirty="0">
                <a:solidFill>
                  <a:schemeClr val="accent5"/>
                </a:solidFill>
              </a:rPr>
              <a:t> </a:t>
            </a:r>
            <a:r>
              <a:rPr lang="en-IN" sz="4000" b="1" dirty="0">
                <a:solidFill>
                  <a:srgbClr val="FF0000"/>
                </a:solidFill>
              </a:rPr>
              <a:t>What is Filtering of data in pandas?</a:t>
            </a:r>
          </a:p>
        </p:txBody>
      </p:sp>
      <p:pic>
        <p:nvPicPr>
          <p:cNvPr id="6" name="Picture 5">
            <a:extLst>
              <a:ext uri="{FF2B5EF4-FFF2-40B4-BE49-F238E27FC236}">
                <a16:creationId xmlns:a16="http://schemas.microsoft.com/office/drawing/2014/main" id="{F77357D3-12D5-AD27-0D12-4A430B5EDD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2816" y="2611373"/>
            <a:ext cx="5654441" cy="3727435"/>
          </a:xfrm>
          <a:prstGeom prst="rect">
            <a:avLst/>
          </a:prstGeom>
        </p:spPr>
      </p:pic>
      <p:sp>
        <p:nvSpPr>
          <p:cNvPr id="3" name="TextBox 2">
            <a:extLst>
              <a:ext uri="{FF2B5EF4-FFF2-40B4-BE49-F238E27FC236}">
                <a16:creationId xmlns:a16="http://schemas.microsoft.com/office/drawing/2014/main" id="{4B1AC1F9-FB93-7B87-3C1E-E01869FB52AA}"/>
              </a:ext>
            </a:extLst>
          </p:cNvPr>
          <p:cNvSpPr txBox="1"/>
          <p:nvPr/>
        </p:nvSpPr>
        <p:spPr>
          <a:xfrm>
            <a:off x="281307" y="2727701"/>
            <a:ext cx="2709866" cy="523220"/>
          </a:xfrm>
          <a:prstGeom prst="rect">
            <a:avLst/>
          </a:prstGeom>
          <a:noFill/>
        </p:spPr>
        <p:txBody>
          <a:bodyPr wrap="square" rtlCol="0">
            <a:spAutoFit/>
          </a:bodyPr>
          <a:lstStyle/>
          <a:p>
            <a:r>
              <a:rPr lang="en-IN" sz="2800" b="1" u="sng" dirty="0">
                <a:solidFill>
                  <a:srgbClr val="00B050"/>
                </a:solidFill>
              </a:rPr>
              <a:t>for example:</a:t>
            </a:r>
          </a:p>
        </p:txBody>
      </p:sp>
    </p:spTree>
    <p:extLst>
      <p:ext uri="{BB962C8B-B14F-4D97-AF65-F5344CB8AC3E}">
        <p14:creationId xmlns:p14="http://schemas.microsoft.com/office/powerpoint/2010/main" val="1734928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36F81B-9A33-A6D9-E571-D4F34B4A7A8C}"/>
              </a:ext>
            </a:extLst>
          </p:cNvPr>
          <p:cNvSpPr txBox="1"/>
          <p:nvPr/>
        </p:nvSpPr>
        <p:spPr>
          <a:xfrm>
            <a:off x="464950" y="110568"/>
            <a:ext cx="8214101" cy="584775"/>
          </a:xfrm>
          <a:prstGeom prst="rect">
            <a:avLst/>
          </a:prstGeom>
          <a:noFill/>
        </p:spPr>
        <p:txBody>
          <a:bodyPr wrap="square" rtlCol="0">
            <a:spAutoFit/>
          </a:bodyPr>
          <a:lstStyle/>
          <a:p>
            <a:r>
              <a:rPr lang="en-IN" sz="3200" b="1" dirty="0">
                <a:solidFill>
                  <a:srgbClr val="FF0000"/>
                </a:solidFill>
              </a:rPr>
              <a:t>1)Sort the data in ascending/descending order.</a:t>
            </a:r>
            <a:endParaRPr lang="en-IN" sz="3200" dirty="0">
              <a:solidFill>
                <a:srgbClr val="FF0000"/>
              </a:solidFill>
            </a:endParaRPr>
          </a:p>
        </p:txBody>
      </p:sp>
      <p:pic>
        <p:nvPicPr>
          <p:cNvPr id="5" name="Picture 4">
            <a:extLst>
              <a:ext uri="{FF2B5EF4-FFF2-40B4-BE49-F238E27FC236}">
                <a16:creationId xmlns:a16="http://schemas.microsoft.com/office/drawing/2014/main" id="{BFF20CBA-5649-883C-F828-D004347D0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902" y="695343"/>
            <a:ext cx="6865748" cy="2447907"/>
          </a:xfrm>
          <a:prstGeom prst="rect">
            <a:avLst/>
          </a:prstGeom>
        </p:spPr>
      </p:pic>
      <p:pic>
        <p:nvPicPr>
          <p:cNvPr id="9" name="Picture 8">
            <a:extLst>
              <a:ext uri="{FF2B5EF4-FFF2-40B4-BE49-F238E27FC236}">
                <a16:creationId xmlns:a16="http://schemas.microsoft.com/office/drawing/2014/main" id="{6D22A06B-BF97-0076-B430-5E1332074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902" y="3487944"/>
            <a:ext cx="6865748" cy="2674713"/>
          </a:xfrm>
          <a:prstGeom prst="rect">
            <a:avLst/>
          </a:prstGeom>
        </p:spPr>
      </p:pic>
    </p:spTree>
    <p:extLst>
      <p:ext uri="{BB962C8B-B14F-4D97-AF65-F5344CB8AC3E}">
        <p14:creationId xmlns:p14="http://schemas.microsoft.com/office/powerpoint/2010/main" val="4020348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9853E2-6A32-FA89-0C85-286021C7AC0F}"/>
              </a:ext>
            </a:extLst>
          </p:cNvPr>
          <p:cNvSpPr txBox="1"/>
          <p:nvPr/>
        </p:nvSpPr>
        <p:spPr>
          <a:xfrm>
            <a:off x="342900" y="685799"/>
            <a:ext cx="8654143" cy="1569660"/>
          </a:xfrm>
          <a:prstGeom prst="rect">
            <a:avLst/>
          </a:prstGeom>
          <a:noFill/>
        </p:spPr>
        <p:txBody>
          <a:bodyPr wrap="square" rtlCol="0">
            <a:spAutoFit/>
          </a:bodyPr>
          <a:lstStyle/>
          <a:p>
            <a:r>
              <a:rPr lang="en-US" sz="2400" dirty="0">
                <a:solidFill>
                  <a:schemeClr val="accent2"/>
                </a:solidFill>
              </a:rPr>
              <a:t>In Pandas, "grouping" refers to the process of dividing a DataFrame into smaller groups based on the values in one or more specified columns. This operation is performed using the .groupby() method and is a fundamental concept in data analysis.</a:t>
            </a:r>
            <a:endParaRPr lang="en-IN" sz="2400" dirty="0">
              <a:solidFill>
                <a:schemeClr val="accent2"/>
              </a:solidFill>
            </a:endParaRPr>
          </a:p>
        </p:txBody>
      </p:sp>
      <p:pic>
        <p:nvPicPr>
          <p:cNvPr id="5" name="Picture 4">
            <a:extLst>
              <a:ext uri="{FF2B5EF4-FFF2-40B4-BE49-F238E27FC236}">
                <a16:creationId xmlns:a16="http://schemas.microsoft.com/office/drawing/2014/main" id="{40974578-7D0E-B18D-BAA4-CEF1EF8C7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138" y="3079885"/>
            <a:ext cx="7614138" cy="3250577"/>
          </a:xfrm>
          <a:prstGeom prst="rect">
            <a:avLst/>
          </a:prstGeom>
        </p:spPr>
      </p:pic>
      <p:sp>
        <p:nvSpPr>
          <p:cNvPr id="8" name="TextBox 7">
            <a:extLst>
              <a:ext uri="{FF2B5EF4-FFF2-40B4-BE49-F238E27FC236}">
                <a16:creationId xmlns:a16="http://schemas.microsoft.com/office/drawing/2014/main" id="{2571F50D-7326-A2CF-F07D-AA0D9C20CEA7}"/>
              </a:ext>
            </a:extLst>
          </p:cNvPr>
          <p:cNvSpPr txBox="1"/>
          <p:nvPr/>
        </p:nvSpPr>
        <p:spPr>
          <a:xfrm>
            <a:off x="550491" y="2433711"/>
            <a:ext cx="1835182" cy="461665"/>
          </a:xfrm>
          <a:prstGeom prst="rect">
            <a:avLst/>
          </a:prstGeom>
          <a:noFill/>
        </p:spPr>
        <p:txBody>
          <a:bodyPr wrap="none" rtlCol="0">
            <a:spAutoFit/>
          </a:bodyPr>
          <a:lstStyle/>
          <a:p>
            <a:r>
              <a:rPr lang="en-IN" sz="2400" b="1" dirty="0">
                <a:solidFill>
                  <a:schemeClr val="accent6">
                    <a:lumMod val="50000"/>
                  </a:schemeClr>
                </a:solidFill>
              </a:rPr>
              <a:t>For example:</a:t>
            </a:r>
          </a:p>
        </p:txBody>
      </p:sp>
      <p:sp>
        <p:nvSpPr>
          <p:cNvPr id="9" name="TextBox 8">
            <a:extLst>
              <a:ext uri="{FF2B5EF4-FFF2-40B4-BE49-F238E27FC236}">
                <a16:creationId xmlns:a16="http://schemas.microsoft.com/office/drawing/2014/main" id="{7533A1A5-AAD3-DD8C-059B-5136FAC814BB}"/>
              </a:ext>
            </a:extLst>
          </p:cNvPr>
          <p:cNvSpPr txBox="1"/>
          <p:nvPr/>
        </p:nvSpPr>
        <p:spPr>
          <a:xfrm>
            <a:off x="550491" y="45795"/>
            <a:ext cx="6421902" cy="646331"/>
          </a:xfrm>
          <a:prstGeom prst="rect">
            <a:avLst/>
          </a:prstGeom>
          <a:noFill/>
        </p:spPr>
        <p:txBody>
          <a:bodyPr wrap="square" rtlCol="0">
            <a:spAutoFit/>
          </a:bodyPr>
          <a:lstStyle/>
          <a:p>
            <a:r>
              <a:rPr lang="en-IN" sz="3600" b="1" dirty="0">
                <a:solidFill>
                  <a:schemeClr val="accent6">
                    <a:lumMod val="50000"/>
                  </a:schemeClr>
                </a:solidFill>
              </a:rPr>
              <a:t>Grouping in pandas?</a:t>
            </a:r>
          </a:p>
        </p:txBody>
      </p:sp>
    </p:spTree>
    <p:extLst>
      <p:ext uri="{BB962C8B-B14F-4D97-AF65-F5344CB8AC3E}">
        <p14:creationId xmlns:p14="http://schemas.microsoft.com/office/powerpoint/2010/main" val="804174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3EB51A-D3A9-5274-771E-A6CC2E90A919}"/>
              </a:ext>
            </a:extLst>
          </p:cNvPr>
          <p:cNvSpPr txBox="1"/>
          <p:nvPr/>
        </p:nvSpPr>
        <p:spPr>
          <a:xfrm>
            <a:off x="114301" y="979714"/>
            <a:ext cx="8768442" cy="1569660"/>
          </a:xfrm>
          <a:prstGeom prst="rect">
            <a:avLst/>
          </a:prstGeom>
          <a:noFill/>
        </p:spPr>
        <p:txBody>
          <a:bodyPr wrap="square" rtlCol="0">
            <a:spAutoFit/>
          </a:bodyPr>
          <a:lstStyle/>
          <a:p>
            <a:r>
              <a:rPr lang="en-US" sz="2400" b="1" dirty="0">
                <a:solidFill>
                  <a:schemeClr val="accent1">
                    <a:lumMod val="75000"/>
                  </a:schemeClr>
                </a:solidFill>
              </a:rPr>
              <a:t>Matplotlib is a comprehensive, open-source plotting library for the Python programming language. It is widely used for creating static, animated, and interactive visualizations in Python, including line plots, scatter plots, bar charts, histograms, and even 3D plots. </a:t>
            </a:r>
            <a:endParaRPr lang="en-IN" sz="2400" b="1" dirty="0">
              <a:solidFill>
                <a:schemeClr val="accent1">
                  <a:lumMod val="75000"/>
                </a:schemeClr>
              </a:solidFill>
            </a:endParaRPr>
          </a:p>
        </p:txBody>
      </p:sp>
      <p:sp>
        <p:nvSpPr>
          <p:cNvPr id="4" name="TextBox 3">
            <a:extLst>
              <a:ext uri="{FF2B5EF4-FFF2-40B4-BE49-F238E27FC236}">
                <a16:creationId xmlns:a16="http://schemas.microsoft.com/office/drawing/2014/main" id="{675EFCFF-7815-0750-452E-A641ACD63DA8}"/>
              </a:ext>
            </a:extLst>
          </p:cNvPr>
          <p:cNvSpPr txBox="1"/>
          <p:nvPr/>
        </p:nvSpPr>
        <p:spPr>
          <a:xfrm>
            <a:off x="1" y="261257"/>
            <a:ext cx="6123214" cy="584775"/>
          </a:xfrm>
          <a:prstGeom prst="rect">
            <a:avLst/>
          </a:prstGeom>
          <a:noFill/>
        </p:spPr>
        <p:txBody>
          <a:bodyPr wrap="square" rtlCol="0">
            <a:spAutoFit/>
          </a:bodyPr>
          <a:lstStyle/>
          <a:p>
            <a:r>
              <a:rPr lang="en-IN" sz="3200" b="1" dirty="0">
                <a:solidFill>
                  <a:schemeClr val="accent2"/>
                </a:solidFill>
              </a:rPr>
              <a:t>What is Matplotlib in python?</a:t>
            </a:r>
          </a:p>
        </p:txBody>
      </p:sp>
      <p:sp>
        <p:nvSpPr>
          <p:cNvPr id="5" name="TextBox 4">
            <a:extLst>
              <a:ext uri="{FF2B5EF4-FFF2-40B4-BE49-F238E27FC236}">
                <a16:creationId xmlns:a16="http://schemas.microsoft.com/office/drawing/2014/main" id="{B0A46E1B-6AC1-F470-5B1A-7735F289D448}"/>
              </a:ext>
            </a:extLst>
          </p:cNvPr>
          <p:cNvSpPr txBox="1"/>
          <p:nvPr/>
        </p:nvSpPr>
        <p:spPr>
          <a:xfrm>
            <a:off x="114301" y="2549374"/>
            <a:ext cx="2726871" cy="523220"/>
          </a:xfrm>
          <a:prstGeom prst="rect">
            <a:avLst/>
          </a:prstGeom>
          <a:noFill/>
        </p:spPr>
        <p:txBody>
          <a:bodyPr wrap="square" rtlCol="0">
            <a:spAutoFit/>
          </a:bodyPr>
          <a:lstStyle/>
          <a:p>
            <a:r>
              <a:rPr lang="en-IN" sz="2800" b="1" dirty="0">
                <a:solidFill>
                  <a:schemeClr val="tx2"/>
                </a:solidFill>
              </a:rPr>
              <a:t>For example:</a:t>
            </a:r>
          </a:p>
        </p:txBody>
      </p:sp>
      <p:pic>
        <p:nvPicPr>
          <p:cNvPr id="1026" name="Picture 2" descr="Introduction to Matplotlib - GeeksforGeeks">
            <a:extLst>
              <a:ext uri="{FF2B5EF4-FFF2-40B4-BE49-F238E27FC236}">
                <a16:creationId xmlns:a16="http://schemas.microsoft.com/office/drawing/2014/main" id="{7067288F-4923-12C8-1BCE-2A41B60400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270" y="2518442"/>
            <a:ext cx="6069899" cy="4339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596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1315F46-5350-7859-4A5A-4C5828D019AC}"/>
              </a:ext>
            </a:extLst>
          </p:cNvPr>
          <p:cNvPicPr>
            <a:picLocks noChangeAspect="1"/>
          </p:cNvPicPr>
          <p:nvPr/>
        </p:nvPicPr>
        <p:blipFill>
          <a:blip r:embed="rId2"/>
          <a:stretch>
            <a:fillRect/>
          </a:stretch>
        </p:blipFill>
        <p:spPr>
          <a:xfrm>
            <a:off x="1338942" y="1357365"/>
            <a:ext cx="7298872" cy="1875689"/>
          </a:xfrm>
          <a:prstGeom prst="rect">
            <a:avLst/>
          </a:prstGeom>
        </p:spPr>
      </p:pic>
      <p:pic>
        <p:nvPicPr>
          <p:cNvPr id="11" name="Picture 10">
            <a:extLst>
              <a:ext uri="{FF2B5EF4-FFF2-40B4-BE49-F238E27FC236}">
                <a16:creationId xmlns:a16="http://schemas.microsoft.com/office/drawing/2014/main" id="{8EB13FDA-4A64-BBDC-05D5-B81C3C57AC66}"/>
              </a:ext>
            </a:extLst>
          </p:cNvPr>
          <p:cNvPicPr>
            <a:picLocks noChangeAspect="1"/>
          </p:cNvPicPr>
          <p:nvPr/>
        </p:nvPicPr>
        <p:blipFill>
          <a:blip r:embed="rId3"/>
          <a:stretch>
            <a:fillRect/>
          </a:stretch>
        </p:blipFill>
        <p:spPr>
          <a:xfrm>
            <a:off x="1338942" y="3624947"/>
            <a:ext cx="7298872" cy="2716695"/>
          </a:xfrm>
          <a:prstGeom prst="rect">
            <a:avLst/>
          </a:prstGeom>
        </p:spPr>
      </p:pic>
      <p:sp>
        <p:nvSpPr>
          <p:cNvPr id="13" name="TextBox 12">
            <a:extLst>
              <a:ext uri="{FF2B5EF4-FFF2-40B4-BE49-F238E27FC236}">
                <a16:creationId xmlns:a16="http://schemas.microsoft.com/office/drawing/2014/main" id="{3E66A75C-EF0A-5C44-90CB-4B9DE3A5922C}"/>
              </a:ext>
            </a:extLst>
          </p:cNvPr>
          <p:cNvSpPr txBox="1"/>
          <p:nvPr/>
        </p:nvSpPr>
        <p:spPr>
          <a:xfrm>
            <a:off x="1338942" y="8526"/>
            <a:ext cx="5649686" cy="1569660"/>
          </a:xfrm>
          <a:prstGeom prst="rect">
            <a:avLst/>
          </a:prstGeom>
          <a:noFill/>
        </p:spPr>
        <p:txBody>
          <a:bodyPr wrap="square" rtlCol="0">
            <a:spAutoFit/>
          </a:bodyPr>
          <a:lstStyle/>
          <a:p>
            <a:pPr fontAlgn="base"/>
            <a:r>
              <a:rPr lang="en-US" sz="3200" b="1" dirty="0">
                <a:solidFill>
                  <a:schemeClr val="accent2"/>
                </a:solidFill>
              </a:rPr>
              <a:t>Example of a Plot in Matplotlib:</a:t>
            </a:r>
          </a:p>
          <a:p>
            <a:br>
              <a:rPr lang="en-US" sz="3200" dirty="0">
                <a:solidFill>
                  <a:schemeClr val="accent2"/>
                </a:solidFill>
              </a:rPr>
            </a:br>
            <a:endParaRPr lang="en-IN" sz="3200" dirty="0">
              <a:solidFill>
                <a:schemeClr val="accent2"/>
              </a:solidFill>
            </a:endParaRPr>
          </a:p>
        </p:txBody>
      </p:sp>
    </p:spTree>
    <p:extLst>
      <p:ext uri="{BB962C8B-B14F-4D97-AF65-F5344CB8AC3E}">
        <p14:creationId xmlns:p14="http://schemas.microsoft.com/office/powerpoint/2010/main" val="2862114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94F2C-14EA-EF03-021E-F74ADBDC9875}"/>
              </a:ext>
            </a:extLst>
          </p:cNvPr>
          <p:cNvSpPr txBox="1"/>
          <p:nvPr/>
        </p:nvSpPr>
        <p:spPr>
          <a:xfrm>
            <a:off x="293915" y="114300"/>
            <a:ext cx="5633356" cy="523220"/>
          </a:xfrm>
          <a:prstGeom prst="rect">
            <a:avLst/>
          </a:prstGeom>
          <a:noFill/>
        </p:spPr>
        <p:txBody>
          <a:bodyPr wrap="square" rtlCol="0">
            <a:spAutoFit/>
          </a:bodyPr>
          <a:lstStyle/>
          <a:p>
            <a:r>
              <a:rPr lang="en-IN" sz="2800" b="1" dirty="0">
                <a:solidFill>
                  <a:schemeClr val="accent2"/>
                </a:solidFill>
              </a:rPr>
              <a:t>What is line plot in Matplotlib?</a:t>
            </a:r>
          </a:p>
        </p:txBody>
      </p:sp>
      <p:sp>
        <p:nvSpPr>
          <p:cNvPr id="3" name="TextBox 2">
            <a:extLst>
              <a:ext uri="{FF2B5EF4-FFF2-40B4-BE49-F238E27FC236}">
                <a16:creationId xmlns:a16="http://schemas.microsoft.com/office/drawing/2014/main" id="{EBD98E9C-023B-3062-E136-99E438DC1368}"/>
              </a:ext>
            </a:extLst>
          </p:cNvPr>
          <p:cNvSpPr txBox="1"/>
          <p:nvPr/>
        </p:nvSpPr>
        <p:spPr>
          <a:xfrm>
            <a:off x="179614" y="715290"/>
            <a:ext cx="7772400" cy="954107"/>
          </a:xfrm>
          <a:prstGeom prst="rect">
            <a:avLst/>
          </a:prstGeom>
          <a:noFill/>
        </p:spPr>
        <p:txBody>
          <a:bodyPr wrap="square" rtlCol="0">
            <a:spAutoFit/>
          </a:bodyPr>
          <a:lstStyle/>
          <a:p>
            <a:r>
              <a:rPr lang="en-US" sz="2800" dirty="0">
                <a:solidFill>
                  <a:schemeClr val="accent2">
                    <a:lumMod val="75000"/>
                  </a:schemeClr>
                </a:solidFill>
              </a:rPr>
              <a:t>Line plots in Python are primarily created using the matplotlib.pyplot library, often imported as plt. </a:t>
            </a:r>
            <a:endParaRPr lang="en-IN" sz="2800" dirty="0">
              <a:solidFill>
                <a:schemeClr val="accent2">
                  <a:lumMod val="75000"/>
                </a:schemeClr>
              </a:solidFill>
            </a:endParaRPr>
          </a:p>
        </p:txBody>
      </p:sp>
      <p:sp>
        <p:nvSpPr>
          <p:cNvPr id="6" name="TextBox 5">
            <a:extLst>
              <a:ext uri="{FF2B5EF4-FFF2-40B4-BE49-F238E27FC236}">
                <a16:creationId xmlns:a16="http://schemas.microsoft.com/office/drawing/2014/main" id="{63FAE276-024D-2DFF-F1A4-5063C1F227E4}"/>
              </a:ext>
            </a:extLst>
          </p:cNvPr>
          <p:cNvSpPr txBox="1"/>
          <p:nvPr/>
        </p:nvSpPr>
        <p:spPr>
          <a:xfrm>
            <a:off x="-1713846" y="1517503"/>
            <a:ext cx="10533886" cy="3820886"/>
          </a:xfrm>
          <a:prstGeom prst="rect">
            <a:avLst/>
          </a:prstGeom>
          <a:noFill/>
        </p:spPr>
        <p:txBody>
          <a:bodyPr wrap="square" rtlCol="0">
            <a:spAutoFit/>
          </a:bodyPr>
          <a:lstStyle/>
          <a:p>
            <a:endParaRPr lang="en-IN" dirty="0"/>
          </a:p>
        </p:txBody>
      </p:sp>
      <p:pic>
        <p:nvPicPr>
          <p:cNvPr id="7" name="Picture 2" descr="Lightbox">
            <a:extLst>
              <a:ext uri="{FF2B5EF4-FFF2-40B4-BE49-F238E27FC236}">
                <a16:creationId xmlns:a16="http://schemas.microsoft.com/office/drawing/2014/main" id="{2780D9CF-8E5F-2211-8D5B-A2545AC66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871" y="2301276"/>
            <a:ext cx="7396843" cy="3839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739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E08A48-38F6-5FF4-B880-EDAB7B67A399}"/>
              </a:ext>
            </a:extLst>
          </p:cNvPr>
          <p:cNvSpPr txBox="1"/>
          <p:nvPr/>
        </p:nvSpPr>
        <p:spPr>
          <a:xfrm>
            <a:off x="244929" y="440871"/>
            <a:ext cx="5132111" cy="523220"/>
          </a:xfrm>
          <a:prstGeom prst="rect">
            <a:avLst/>
          </a:prstGeom>
          <a:noFill/>
        </p:spPr>
        <p:txBody>
          <a:bodyPr wrap="none" rtlCol="0">
            <a:spAutoFit/>
          </a:bodyPr>
          <a:lstStyle/>
          <a:p>
            <a:r>
              <a:rPr lang="en-IN" sz="2800" dirty="0">
                <a:solidFill>
                  <a:schemeClr val="accent2">
                    <a:lumMod val="75000"/>
                  </a:schemeClr>
                </a:solidFill>
              </a:rPr>
              <a:t>What is scatter plot in matplotlib?</a:t>
            </a:r>
          </a:p>
        </p:txBody>
      </p:sp>
      <p:sp>
        <p:nvSpPr>
          <p:cNvPr id="3" name="TextBox 2">
            <a:extLst>
              <a:ext uri="{FF2B5EF4-FFF2-40B4-BE49-F238E27FC236}">
                <a16:creationId xmlns:a16="http://schemas.microsoft.com/office/drawing/2014/main" id="{C65C3CE7-B787-773A-CC9A-60F37DC501F3}"/>
              </a:ext>
            </a:extLst>
          </p:cNvPr>
          <p:cNvSpPr txBox="1"/>
          <p:nvPr/>
        </p:nvSpPr>
        <p:spPr>
          <a:xfrm>
            <a:off x="244929" y="1289957"/>
            <a:ext cx="8001000" cy="3046988"/>
          </a:xfrm>
          <a:prstGeom prst="rect">
            <a:avLst/>
          </a:prstGeom>
          <a:noFill/>
        </p:spPr>
        <p:txBody>
          <a:bodyPr wrap="square" rtlCol="0">
            <a:spAutoFit/>
          </a:bodyPr>
          <a:lstStyle/>
          <a:p>
            <a:r>
              <a:rPr lang="en-US" sz="2400" dirty="0">
                <a:solidFill>
                  <a:srgbClr val="00B050"/>
                </a:solidFill>
              </a:rPr>
              <a:t>A scatter plot in Python is a type of data visualization that displays individual data points on a two-dimensional graph. It uses Cartesian coordinates to show the relationship between two variables, with one variable plotted on the horizontal (x-axis) and the other on the vertical (y-axis). Each data point is typically represented as a dot or a marker. </a:t>
            </a:r>
          </a:p>
          <a:p>
            <a:br>
              <a:rPr lang="en-US" sz="2400" dirty="0">
                <a:solidFill>
                  <a:srgbClr val="00B050"/>
                </a:solidFill>
              </a:rPr>
            </a:br>
            <a:endParaRPr lang="en-IN" sz="2400" dirty="0">
              <a:solidFill>
                <a:srgbClr val="00B050"/>
              </a:solidFill>
            </a:endParaRPr>
          </a:p>
        </p:txBody>
      </p:sp>
      <p:pic>
        <p:nvPicPr>
          <p:cNvPr id="5" name="Picture 4">
            <a:extLst>
              <a:ext uri="{FF2B5EF4-FFF2-40B4-BE49-F238E27FC236}">
                <a16:creationId xmlns:a16="http://schemas.microsoft.com/office/drawing/2014/main" id="{4216CC3F-EFE8-3DB0-008C-3E71E58BB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V="1">
            <a:off x="244929" y="3869868"/>
            <a:ext cx="8409214" cy="2759529"/>
          </a:xfrm>
          <a:prstGeom prst="rect">
            <a:avLst/>
          </a:prstGeom>
        </p:spPr>
      </p:pic>
    </p:spTree>
    <p:extLst>
      <p:ext uri="{BB962C8B-B14F-4D97-AF65-F5344CB8AC3E}">
        <p14:creationId xmlns:p14="http://schemas.microsoft.com/office/powerpoint/2010/main" val="2423137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F1B957-48F1-F370-A05B-31320022123F}"/>
              </a:ext>
            </a:extLst>
          </p:cNvPr>
          <p:cNvSpPr txBox="1"/>
          <p:nvPr/>
        </p:nvSpPr>
        <p:spPr>
          <a:xfrm>
            <a:off x="212271" y="310243"/>
            <a:ext cx="5271443" cy="584775"/>
          </a:xfrm>
          <a:prstGeom prst="rect">
            <a:avLst/>
          </a:prstGeom>
          <a:noFill/>
        </p:spPr>
        <p:txBody>
          <a:bodyPr wrap="none" rtlCol="0">
            <a:spAutoFit/>
          </a:bodyPr>
          <a:lstStyle/>
          <a:p>
            <a:r>
              <a:rPr lang="en-IN" sz="3200" dirty="0">
                <a:solidFill>
                  <a:srgbClr val="00B050"/>
                </a:solidFill>
              </a:rPr>
              <a:t>What is bar plot in matplotlib?</a:t>
            </a:r>
          </a:p>
        </p:txBody>
      </p:sp>
      <p:sp>
        <p:nvSpPr>
          <p:cNvPr id="3" name="TextBox 2">
            <a:extLst>
              <a:ext uri="{FF2B5EF4-FFF2-40B4-BE49-F238E27FC236}">
                <a16:creationId xmlns:a16="http://schemas.microsoft.com/office/drawing/2014/main" id="{A57FE3C9-F528-1990-F6B9-F716333EBD0B}"/>
              </a:ext>
            </a:extLst>
          </p:cNvPr>
          <p:cNvSpPr txBox="1"/>
          <p:nvPr/>
        </p:nvSpPr>
        <p:spPr>
          <a:xfrm>
            <a:off x="81643" y="895018"/>
            <a:ext cx="8980714" cy="2677656"/>
          </a:xfrm>
          <a:prstGeom prst="rect">
            <a:avLst/>
          </a:prstGeom>
          <a:noFill/>
        </p:spPr>
        <p:txBody>
          <a:bodyPr wrap="square" rtlCol="0">
            <a:spAutoFit/>
          </a:bodyPr>
          <a:lstStyle/>
          <a:p>
            <a:r>
              <a:rPr lang="en-US" sz="2800" dirty="0">
                <a:solidFill>
                  <a:schemeClr val="accent1"/>
                </a:solidFill>
              </a:rPr>
              <a:t>Creating a bar plot in Python is commonly done using the matplotlib library, particularly its pyplot module. The bar() function within pyplot is used for this purpose.</a:t>
            </a:r>
          </a:p>
          <a:p>
            <a:br>
              <a:rPr lang="en-US" sz="2800" dirty="0"/>
            </a:br>
            <a:endParaRPr lang="en-IN" sz="2800" dirty="0"/>
          </a:p>
        </p:txBody>
      </p:sp>
      <p:pic>
        <p:nvPicPr>
          <p:cNvPr id="3074" name="Picture 2" descr="Bar Plot in Matplotlib - GeeksforGeeks">
            <a:extLst>
              <a:ext uri="{FF2B5EF4-FFF2-40B4-BE49-F238E27FC236}">
                <a16:creationId xmlns:a16="http://schemas.microsoft.com/office/drawing/2014/main" id="{811BF3CE-AE6F-81F0-1F02-B02F4A826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663257"/>
            <a:ext cx="7596188" cy="408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538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126"/>
            <a:ext cx="9235440" cy="6858000"/>
          </a:xfrm>
          <a:prstGeom prst="rect">
            <a:avLst/>
          </a:prstGeom>
          <a:solidFill>
            <a:srgbClr val="87E1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8229600" cy="548640"/>
          </a:xfrm>
          <a:prstGeom prst="rect">
            <a:avLst/>
          </a:prstGeom>
          <a:noFill/>
        </p:spPr>
        <p:txBody>
          <a:bodyPr wrap="none">
            <a:spAutoFit/>
          </a:bodyPr>
          <a:lstStyle/>
          <a:p>
            <a:r>
              <a:t>Experience vs Salary (Scatter)</a:t>
            </a:r>
          </a:p>
        </p:txBody>
      </p:sp>
      <p:pic>
        <p:nvPicPr>
          <p:cNvPr id="4" name="Picture 3" descr="exp_vs_salary.png"/>
          <p:cNvPicPr>
            <a:picLocks noChangeAspect="1"/>
          </p:cNvPicPr>
          <p:nvPr/>
        </p:nvPicPr>
        <p:blipFill>
          <a:blip r:embed="rId2"/>
          <a:stretch>
            <a:fillRect/>
          </a:stretch>
        </p:blipFill>
        <p:spPr>
          <a:xfrm>
            <a:off x="548640" y="1005840"/>
            <a:ext cx="8229600" cy="5878286"/>
          </a:xfrm>
          <a:prstGeom prst="rect">
            <a:avLst/>
          </a:prstGeom>
        </p:spPr>
      </p:pic>
      <p:sp>
        <p:nvSpPr>
          <p:cNvPr id="5" name="TextBox 4"/>
          <p:cNvSpPr txBox="1"/>
          <p:nvPr/>
        </p:nvSpPr>
        <p:spPr>
          <a:xfrm>
            <a:off x="548640" y="4572000"/>
            <a:ext cx="3657600" cy="548640"/>
          </a:xfrm>
          <a:prstGeom prst="rect">
            <a:avLst/>
          </a:prstGeom>
          <a:noFill/>
        </p:spPr>
        <p:txBody>
          <a:bodyPr wrap="none">
            <a:spAutoFit/>
          </a:bodyPr>
          <a:lstStyle/>
          <a:p>
            <a:r>
              <a:t>Corr: 0.03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D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8229600" cy="548640"/>
          </a:xfrm>
          <a:prstGeom prst="rect">
            <a:avLst/>
          </a:prstGeom>
          <a:noFill/>
        </p:spPr>
        <p:txBody>
          <a:bodyPr wrap="none">
            <a:spAutoFit/>
          </a:bodyPr>
          <a:lstStyle/>
          <a:p>
            <a:r>
              <a:t>Salary Distribution</a:t>
            </a:r>
          </a:p>
        </p:txBody>
      </p:sp>
      <p:pic>
        <p:nvPicPr>
          <p:cNvPr id="4" name="Picture 3" descr="salary_hist.png"/>
          <p:cNvPicPr>
            <a:picLocks noChangeAspect="1"/>
          </p:cNvPicPr>
          <p:nvPr/>
        </p:nvPicPr>
        <p:blipFill>
          <a:blip r:embed="rId2"/>
          <a:stretch>
            <a:fillRect/>
          </a:stretch>
        </p:blipFill>
        <p:spPr>
          <a:xfrm>
            <a:off x="548640" y="1005840"/>
            <a:ext cx="8229600" cy="58782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733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8229600" cy="548640"/>
          </a:xfrm>
          <a:prstGeom prst="rect">
            <a:avLst/>
          </a:prstGeom>
          <a:noFill/>
        </p:spPr>
        <p:txBody>
          <a:bodyPr wrap="none">
            <a:spAutoFit/>
          </a:bodyPr>
          <a:lstStyle/>
          <a:p>
            <a:r>
              <a:t>Average Salary by Year</a:t>
            </a:r>
          </a:p>
        </p:txBody>
      </p:sp>
      <p:pic>
        <p:nvPicPr>
          <p:cNvPr id="4" name="Picture 3" descr="avg_salary_year.png"/>
          <p:cNvPicPr>
            <a:picLocks noChangeAspect="1"/>
          </p:cNvPicPr>
          <p:nvPr/>
        </p:nvPicPr>
        <p:blipFill>
          <a:blip r:embed="rId2"/>
          <a:stretch>
            <a:fillRect/>
          </a:stretch>
        </p:blipFill>
        <p:spPr>
          <a:xfrm>
            <a:off x="548640" y="1005840"/>
            <a:ext cx="82296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695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8229600" cy="548640"/>
          </a:xfrm>
          <a:prstGeom prst="rect">
            <a:avLst/>
          </a:prstGeom>
          <a:noFill/>
        </p:spPr>
        <p:txBody>
          <a:bodyPr wrap="none">
            <a:spAutoFit/>
          </a:bodyPr>
          <a:lstStyle/>
          <a:p>
            <a:r>
              <a:t>Top 5 Salaries</a:t>
            </a:r>
          </a:p>
        </p:txBody>
      </p:sp>
      <p:pic>
        <p:nvPicPr>
          <p:cNvPr id="4" name="Picture 3" descr="top5_salaries.png"/>
          <p:cNvPicPr>
            <a:picLocks noChangeAspect="1"/>
          </p:cNvPicPr>
          <p:nvPr/>
        </p:nvPicPr>
        <p:blipFill>
          <a:blip r:embed="rId2"/>
          <a:stretch>
            <a:fillRect/>
          </a:stretch>
        </p:blipFill>
        <p:spPr>
          <a:xfrm>
            <a:off x="548640" y="1005840"/>
            <a:ext cx="8229600" cy="47026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393</TotalTime>
  <Words>616</Words>
  <Application>Microsoft Office PowerPoint</Application>
  <PresentationFormat>On-screen Show (4:3)</PresentationFormat>
  <Paragraphs>49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Gaurav Sinha</dc:creator>
  <cp:keywords/>
  <dc:description>generated using python-pptx</dc:description>
  <cp:lastModifiedBy>Gaurav Sinha</cp:lastModifiedBy>
  <cp:revision>5</cp:revision>
  <dcterms:created xsi:type="dcterms:W3CDTF">2013-01-27T09:14:16Z</dcterms:created>
  <dcterms:modified xsi:type="dcterms:W3CDTF">2025-11-09T10:05:09Z</dcterms:modified>
  <cp:category/>
</cp:coreProperties>
</file>